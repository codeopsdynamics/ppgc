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1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8801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10225" y="4459525"/>
            <a:ext cx="5681975" cy="42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15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704850"/>
            <a:ext cx="6256337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— 20 seconds
Good [morning/afternoon]. I am Himanshu Rai, XW013-25, Kubernetes Engineer at NexaCore Technologies India — the bank's largest tech hub globally.
My PPGC Working with AI project addresses a problem I see every day: NexaCore hires over 1,150 technology professionals a year, and the manual process is both overwhelmed and structurally biased.
I built two AI solutions — a Python NLP CV scoring model and a Claude JD generator — that deliver ₹46.5 Crore in annual value.
Let me walk you through the problem, solutions, and numbers in the next four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SCALE  (~35 seconds)
NexaCore Technologies India grew from 3,200 to 6,800 engineers in four years — a 113% increase requiring 1,150 net new tech hires per year.
At the SHRM 2023 benchmark of 58 person-hours per senior BFSI tech hire, that equals 66,700 hours per year — 34 full-time employees doing nothing but reading CVs.
The right panel shows what AI changes: time to shortlist drops 65%, screening hours drop 86%, cost per hire drops 42%. This is structural transformation at scale.
But the volume problem is only half the story. The bias embedded in that manual process is worse — because it is invisible.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BIAS  (~40 seconds)
DeNisi, Griffin and Sarkar Chapter 4 — our course textbook — identifies four selection error types in every unstructured screening process.
Harvard's 2023 IAT research confirms a 30% callback gap between identical CVs with different names. Korn Ferry confirms 62% similarity bias in unstructured panels. 71% of first impressions are formed in under 90 seconds — before any technical content is read.
The right panel shows the JD language problem. Textio confirms masculine-coded language reduces women applicants by 29%. That is a structural diversity deficit created before any interview occurs.
These biases cannot be fixed by training. They require process redesign. That is exactly what the two AI solutions do — and I will show you 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FUNNEL  (~25 seconds)
This single chart tells the whole story.
Manual process: 1,000 applications, 85 reach CV shortlist, just 5 receive offers. A 0.5% conversion rate.
AI-assisted: same 1,000 applications, 220 qualified shortlists, 12 final offers. 2.4 times better.
The AI model is not filtering out qualified candidates because of their name, university, or a 90-second first impression. That alone more than doubles the offer rate.
Now let me show you exactly how both solutions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CV SCORING  (~40 seconds)
This is the actual Python ML model I built. The full code is on GitHub at github.com/CodeOpsDynamics/PPGC.
The algorithm is TF-IDF combined with cosine similarity. In plain terms: it converts both the Job Description and every CV into a weighted vector of technical terms. Terms that are rare but important — like 'ArgoCD' or 'Kubernetes operator' — get higher weight than common words. It measures the angular distance between each CV vector and the JD vector, giving a score from 0 to 100.
Look at the chart. 30 synthetic CVs against a Senior Kubernetes Engineer JD. Green bars — scores above 65 — are strong matches with dense technical alignment. Red bars are correctly excluded: Java developers, data scientists, HR generalists.
8 seconds. Zero demographic data. That structurally eliminates Harvard's 30% name-bias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JD GENERATOR  (~35 seconds)
Solution 2 targets the JD quality problem at its source using Claude in a two-stage pipeline.
Stage 1: HR inputs role title, seniority, and five required skills. Claude generates a complete six-section JD in 12 to 15 minutes. Stage 2: automated Textio bias filter checks every output for masculine-coded language and replaces it.
The result: the sample JD in my Annexure B scored 0.02 on Textio's bias scale — near neutral — versus 0.71 for a manually-written equivalent. That is a 97% reduction.
The five mitigation mechanisms together address all four DeNisi error types structurally. Women shortlisted rises from 28% to 47%. This is the automatic output of removing bias from the process architecture — not a diversity initiative.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ROI  (~35 seconds)
Every metric improves. Time to shortlist: 52 to 18 days. Screening hours: 58 to 8. Offer conversion: 2.4 times better.
The ROI table shows four independent benefit streams totalling ₹46.5 Crore per year. I want to be transparent: Claude's initial estimate was ₹52 Crore. I independently recalculated the McKinsey diversity premium against the primary report methodology and corrected it to ₹46.5 Crore. This is documented in Prompt Number 4 of my Logbook.
Implementation costs ₹45 to 60 Lakhs over 12 months. Payback period: under 7 weeks. Year-one ROI exceeds 775%.
This is a conservative estimate — it excludes quality-of-hire improvements and brand reputation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DeNISI FRAMEWORK  (~20 seconds)
This slide is the theoretical heart of the project.
Each of DeNisi's four selection error types has a direct structural countermeasure built into the AI system. First impression errors eliminated by name anonymisation. Contrast errors by standardised JD-benchmark scoring. Similarity errors by blind skills assessment. Non-relevancy errors by JD-only vocabulary weighting.
This is not a technology project that happens to cite the textbook. The textbook defined the design requirements. The AI solutions are the engineering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— WAI COMPLIANCE  (~25 seconds)
38 hours total. 78% independent, 22% AI-assisted. 8 detailed prompts in Annexure A.
I want to highlight three specific corrections to AI outputs. First: Python had a colour-constant bug — missing hash prefix caused a ValueError on every chart. I caught it through code execution and fixed it independently. Second: Claude's ROI was ₹52 Crore. I recalculated against the McKinsey primary source and corrected to ₹46.5 Crore. Third: one Forrester citation was unverifiable — replaced with IBM IBV 2023.
AI is a productivity tool, not a replacement for critical thinking. Every output in this project was verified before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— CONCLUSION  (~20 seconds)
To summarise in three sentences.
NexaCore India's manual recruitment process costs 66,700 person-hours per year and embeds all four DeNisi selection bias types.
Two AI solutions — a Python NLP scoring engine and a Claude JD generator — eliminate these problems structurally, deliver ₹46.5 Crore in annual value, and take women shortlisted from 28% to 47%.
All code is on GitHub at github.com/CodeOpsDynamics/PPGC. The report with full Prompt Logbook has been submitted. Thank you — I am happy to take questions.
[PAUSE — invite questions]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710225" y="4459525"/>
            <a:ext cx="5681975" cy="42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62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704850"/>
            <a:ext cx="6256337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2;p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2" name="Google Shape;13;p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3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487004"/>
      </p:ext>
    </p:extLst>
  </p:cSld>
  <p:clrMapOvr>
    <a:masterClrMapping/>
  </p:clrMapOvr>
  <p:transition spd="med">
    <p:push/>
  </p:transition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Google Shape;84;p1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9144000" cy="5383197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04" name="Google Shape;85;p1"/>
          <p:cNvSpPr/>
          <p:nvPr/>
        </p:nvSpPr>
        <p:spPr>
          <a:xfrm>
            <a:off x="278378" y="132860"/>
            <a:ext cx="1381484" cy="941712"/>
          </a:xfrm>
          <a:custGeom>
            <a:avLst/>
            <a:gdLst/>
            <a:ahLst/>
            <a:cxnLst/>
            <a:rect l="l" t="t" r="r" b="b"/>
            <a:pathLst>
              <a:path w="2172466" h="1480898" extrusionOk="0">
                <a:moveTo>
                  <a:pt x="0" y="0"/>
                </a:moveTo>
                <a:lnTo>
                  <a:pt x="2172466" y="0"/>
                </a:lnTo>
                <a:lnTo>
                  <a:pt x="2172466" y="1480898"/>
                </a:lnTo>
                <a:lnTo>
                  <a:pt x="0" y="14808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sz="900"/>
          </a:p>
        </p:txBody>
      </p:sp>
      <p:sp>
        <p:nvSpPr>
          <p:cNvPr id="1048605" name="Google Shape;86;p1"/>
          <p:cNvSpPr txBox="1"/>
          <p:nvPr/>
        </p:nvSpPr>
        <p:spPr>
          <a:xfrm>
            <a:off x="278378" y="1067307"/>
            <a:ext cx="4502160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Montserrat Black"/>
                <a:cs typeface="Times New Roman" panose="02020603050405020304" pitchFamily="18" charset="0"/>
                <a:sym typeface="Montserrat Black"/>
              </a:rPr>
              <a:t xml:space="preserve">Term- III </a:t>
            </a:r>
            <a:r>
              <a:rPr lang="en-IN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 Practices For Global Context (PPGC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Montserrat Black"/>
                <a:cs typeface="Times New Roman" panose="02020603050405020304" pitchFamily="18" charset="0"/>
                <a:sym typeface="Montserrat Black"/>
              </a:rPr>
              <a:t xml:space="preserve">) </a:t>
            </a:r>
            <a:b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Montserrat Black"/>
                <a:cs typeface="Times New Roman" panose="02020603050405020304" pitchFamily="18" charset="0"/>
                <a:sym typeface="Montserrat Black"/>
              </a:rPr>
            </a:b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Montserrat Black"/>
                <a:cs typeface="Times New Roman" panose="02020603050405020304" pitchFamily="18" charset="0"/>
                <a:sym typeface="Montserrat Black"/>
              </a:rPr>
              <a:t xml:space="preserve">Assignment submission </a:t>
            </a:r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Montserrat Black"/>
                <a:cs typeface="Times New Roman" panose="02020603050405020304" pitchFamily="18" charset="0"/>
                <a:sym typeface="Montserrat Black"/>
              </a:rPr>
              <a:t xml:space="preserve">To </a:t>
            </a:r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Montserrat Black"/>
                <a:cs typeface="Times New Roman" panose="02020603050405020304" pitchFamily="18" charset="0"/>
                <a:sym typeface="Montserrat Black"/>
              </a:rPr>
              <a:t>Prof. Raja Sekhar David</a:t>
            </a:r>
          </a:p>
        </p:txBody>
      </p:sp>
      <p:sp>
        <p:nvSpPr>
          <p:cNvPr id="1048606" name="Google Shape;87;p1"/>
          <p:cNvSpPr txBox="1"/>
          <p:nvPr/>
        </p:nvSpPr>
        <p:spPr>
          <a:xfrm>
            <a:off x="510158" y="2647666"/>
            <a:ext cx="40386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79"/>
              </a:lnSpc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 xml:space="preserve">Topic: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Recruitment &amp; Selection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2" name="Google Shape;91;p1"/>
          <p:cNvGrpSpPr/>
          <p:nvPr/>
        </p:nvGrpSpPr>
        <p:grpSpPr>
          <a:xfrm>
            <a:off x="0" y="3513454"/>
            <a:ext cx="4038600" cy="927948"/>
            <a:chOff x="0" y="-47625"/>
            <a:chExt cx="1764301" cy="491627"/>
          </a:xfrm>
        </p:grpSpPr>
        <p:sp>
          <p:nvSpPr>
            <p:cNvPr id="1048607" name="Google Shape;92;p1"/>
            <p:cNvSpPr/>
            <p:nvPr/>
          </p:nvSpPr>
          <p:spPr>
            <a:xfrm>
              <a:off x="0" y="0"/>
              <a:ext cx="1764301" cy="444002"/>
            </a:xfrm>
            <a:custGeom>
              <a:avLst/>
              <a:gdLst/>
              <a:ahLst/>
              <a:cxnLst/>
              <a:rect l="l" t="t" r="r" b="b"/>
              <a:pathLst>
                <a:path w="1764301" h="444002" extrusionOk="0">
                  <a:moveTo>
                    <a:pt x="0" y="0"/>
                  </a:moveTo>
                  <a:lnTo>
                    <a:pt x="1764301" y="0"/>
                  </a:lnTo>
                  <a:lnTo>
                    <a:pt x="1764301" y="444002"/>
                  </a:lnTo>
                  <a:lnTo>
                    <a:pt x="0" y="444002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/>
            <a:lstStyle/>
            <a:p>
              <a:endParaRPr lang="en-US" sz="900"/>
            </a:p>
          </p:txBody>
        </p:sp>
        <p:sp>
          <p:nvSpPr>
            <p:cNvPr id="1048608" name="Google Shape;93;p1"/>
            <p:cNvSpPr txBox="1"/>
            <p:nvPr/>
          </p:nvSpPr>
          <p:spPr>
            <a:xfrm>
              <a:off x="0" y="-47625"/>
              <a:ext cx="1764301" cy="4916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lvl="0"/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Himanshu Rai 		 XW013-25</a:t>
              </a:r>
            </a:p>
            <a:p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GitHub                      https://</a:t>
              </a:r>
              <a:r>
                <a:rPr lang="en-US" sz="9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github.com</a:t>
              </a:r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sz="9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CodeOpsDynamics</a:t>
              </a:r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/PPGC</a:t>
              </a:r>
            </a:p>
            <a:p>
              <a:pPr lvl="0"/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48609" name="Google Shape;95;p1"/>
          <p:cNvSpPr txBox="1"/>
          <p:nvPr/>
        </p:nvSpPr>
        <p:spPr>
          <a:xfrm>
            <a:off x="-234" y="3513453"/>
            <a:ext cx="3569118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Details</a:t>
            </a:r>
          </a:p>
        </p:txBody>
      </p:sp>
      <p:grpSp>
        <p:nvGrpSpPr>
          <p:cNvPr id="43" name="Google Shape;96;p1"/>
          <p:cNvGrpSpPr/>
          <p:nvPr/>
        </p:nvGrpSpPr>
        <p:grpSpPr>
          <a:xfrm>
            <a:off x="3594737" y="3695720"/>
            <a:ext cx="444096" cy="341875"/>
            <a:chOff x="-1" y="0"/>
            <a:chExt cx="1184255" cy="911666"/>
          </a:xfrm>
        </p:grpSpPr>
        <p:sp>
          <p:nvSpPr>
            <p:cNvPr id="1048610" name="Google Shape;97;p1"/>
            <p:cNvSpPr/>
            <p:nvPr/>
          </p:nvSpPr>
          <p:spPr>
            <a:xfrm rot="5400000">
              <a:off x="333670" y="61082"/>
              <a:ext cx="911666" cy="789503"/>
            </a:xfrm>
            <a:custGeom>
              <a:avLst/>
              <a:gdLst/>
              <a:ahLst/>
              <a:cxnLst/>
              <a:rect l="l" t="t" r="r" b="b"/>
              <a:pathLst>
                <a:path w="6350000" h="5499100" extrusionOk="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solidFill>
              <a:srgbClr val="1B2F6E"/>
            </a:solidFill>
            <a:ln>
              <a:noFill/>
            </a:ln>
          </p:spPr>
          <p:txBody>
            <a:bodyPr/>
            <a:lstStyle/>
            <a:p>
              <a:endParaRPr lang="en-US" sz="900"/>
            </a:p>
          </p:txBody>
        </p:sp>
        <p:sp>
          <p:nvSpPr>
            <p:cNvPr id="1048611" name="Google Shape;98;p1"/>
            <p:cNvSpPr/>
            <p:nvPr/>
          </p:nvSpPr>
          <p:spPr>
            <a:xfrm rot="5400000">
              <a:off x="-61082" y="61082"/>
              <a:ext cx="911666" cy="789503"/>
            </a:xfrm>
            <a:custGeom>
              <a:avLst/>
              <a:gdLst/>
              <a:ahLst/>
              <a:cxnLst/>
              <a:rect l="l" t="t" r="r" b="b"/>
              <a:pathLst>
                <a:path w="6350000" h="5499100" extrusionOk="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solidFill>
              <a:srgbClr val="13214D">
                <a:alpha val="62352"/>
              </a:srgbClr>
            </a:solidFill>
            <a:ln>
              <a:noFill/>
            </a:ln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1048612" name="Google Shape;99;p1"/>
          <p:cNvSpPr/>
          <p:nvPr/>
        </p:nvSpPr>
        <p:spPr>
          <a:xfrm rot="-5400000">
            <a:off x="4392918" y="305812"/>
            <a:ext cx="358164" cy="417076"/>
          </a:xfrm>
          <a:custGeom>
            <a:avLst/>
            <a:gdLst/>
            <a:ahLst/>
            <a:cxnLst/>
            <a:rect l="l" t="t" r="r" b="b"/>
            <a:pathLst>
              <a:path w="716328" h="834152" extrusionOk="0">
                <a:moveTo>
                  <a:pt x="716328" y="834152"/>
                </a:moveTo>
                <a:lnTo>
                  <a:pt x="0" y="834152"/>
                </a:lnTo>
                <a:lnTo>
                  <a:pt x="0" y="0"/>
                </a:lnTo>
                <a:lnTo>
                  <a:pt x="716328" y="0"/>
                </a:lnTo>
                <a:lnTo>
                  <a:pt x="716328" y="834152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sz="900"/>
          </a:p>
        </p:txBody>
      </p:sp>
      <p:sp>
        <p:nvSpPr>
          <p:cNvPr id="1048613" name="Google Shape;100;p1"/>
          <p:cNvSpPr/>
          <p:nvPr/>
        </p:nvSpPr>
        <p:spPr>
          <a:xfrm rot="-5400000">
            <a:off x="307834" y="4703997"/>
            <a:ext cx="358164" cy="417076"/>
          </a:xfrm>
          <a:custGeom>
            <a:avLst/>
            <a:gdLst/>
            <a:ahLst/>
            <a:cxnLst/>
            <a:rect l="l" t="t" r="r" b="b"/>
            <a:pathLst>
              <a:path w="716328" h="834152" extrusionOk="0">
                <a:moveTo>
                  <a:pt x="716328" y="834152"/>
                </a:moveTo>
                <a:lnTo>
                  <a:pt x="0" y="834152"/>
                </a:lnTo>
                <a:lnTo>
                  <a:pt x="0" y="0"/>
                </a:lnTo>
                <a:lnTo>
                  <a:pt x="716328" y="0"/>
                </a:lnTo>
                <a:lnTo>
                  <a:pt x="716328" y="834152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658368"/>
            <a:ext cx="8796528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19456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PRACTICES FOR GLOBAL CONTEXT (PPGC)  ·  WORKING WITH AI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47472" y="786384"/>
            <a:ext cx="8503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Recruitment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Selection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47472" y="2322576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Talent Acquisition at NexaCore Technologies India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" y="2944368"/>
            <a:ext cx="2743200" cy="138988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944368"/>
            <a:ext cx="25237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  <a:p>
            <a:pPr marL="0" indent="0" algn="l">
              <a:buNone/>
            </a:pPr>
            <a:r>
              <a:rPr lang="en-US" sz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screening: 66,700 hrs/yr + 4 DeNisi bias types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27832" y="2944368"/>
            <a:ext cx="2743200" cy="138988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2944368"/>
            <a:ext cx="25237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  <a:p>
            <a:pPr marL="0" indent="0" algn="l">
              <a:buNone/>
            </a:pPr>
            <a:r>
              <a:rPr lang="en-US" sz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NLP CV Scoring + Claude AI JD Generator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08192" y="2944368"/>
            <a:ext cx="2743200" cy="1389888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2944368"/>
            <a:ext cx="25237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  <a:p>
            <a:pPr marL="0" indent="0" algn="l">
              <a:buNone/>
            </a:pPr>
            <a:r>
              <a:rPr lang="en-US" sz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₹46.5 Crore/yr ROI  ·  2.4× offer conversion  ·  +68% women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" y="4462272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  |  Roll No: XW013-25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Engineer, NexaCore Technologies India  |  IIM Ranchi EMBA 2025 Winter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06640" y="4462272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217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— NexaCore India Tech Hiring Scale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732520" y="118872"/>
            <a:ext cx="347472" cy="38404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32520" y="11887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" y="4956048"/>
            <a:ext cx="88696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  |  XW013-25  |  PPGC – Working with AI  |  IIM Ranchi EMBA 2025 Winter  |  github.com/CodeOpsDynamics/PPGC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64592" y="731520"/>
            <a:ext cx="210312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" y="731520"/>
            <a:ext cx="64008" cy="74980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7315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6,800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Employees 2023</a:t>
            </a:r>
            <a:endParaRPr lang="en-US" sz="24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113% growth since 2019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377440" y="731520"/>
            <a:ext cx="2103120" cy="7498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77440" y="731520"/>
            <a:ext cx="64008" cy="74980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7315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1,150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Tech Hires</a:t>
            </a:r>
            <a:endParaRPr lang="en-US" sz="24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new role every 7 hours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590288" y="731520"/>
            <a:ext cx="210312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90288" y="731520"/>
            <a:ext cx="64008" cy="74980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81728" y="7315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66,700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Hrs / Year</a:t>
            </a:r>
            <a:endParaRPr lang="en-US" sz="24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 34 FTE reading CVs only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803136" y="731520"/>
            <a:ext cx="2103120" cy="749808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03136" y="731520"/>
            <a:ext cx="64008" cy="74980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94576" y="7315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Screening Reduction</a:t>
            </a:r>
            <a:endParaRPr lang="en-US" sz="24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hrs → 8 hrs per hire</a:t>
            </a:r>
            <a:endParaRPr lang="en-US" sz="24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1563624"/>
            <a:ext cx="8814816" cy="305409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4592" y="4727448"/>
            <a:ext cx="8814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NexaCore Annual Report 2023 (est.)  |  SHRM 2023  |  IBM IBV 2023  |  Eightfold.ai 2023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217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— Unconscious Bias &amp; JD Gender Impact  (DeNisi Ch.4)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732520" y="118872"/>
            <a:ext cx="347472" cy="38404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32520" y="11887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" y="4956048"/>
            <a:ext cx="88696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  |  XW013-25  |  PPGC – Working with AI  |  IIM Ranchi EMBA 2025 Winter  |  github.com/CodeOpsDynamics/PPGC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64592" y="731520"/>
            <a:ext cx="210312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" y="731520"/>
            <a:ext cx="64008" cy="74980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7315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Name-based callback gap</a:t>
            </a:r>
            <a:endParaRPr lang="en-US" sz="24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 IAT 2023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377440" y="731520"/>
            <a:ext cx="2103120" cy="7498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77440" y="731520"/>
            <a:ext cx="64008" cy="74980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7315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bias in panels</a:t>
            </a:r>
            <a:endParaRPr lang="en-US" sz="24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 Ferry 2022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590288" y="731520"/>
            <a:ext cx="2103120" cy="7498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90288" y="731520"/>
            <a:ext cx="64008" cy="74980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81728" y="7315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First-impression errors</a:t>
            </a:r>
            <a:endParaRPr lang="en-US" sz="24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90 sec — DeNisi Ch.4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803136" y="731520"/>
            <a:ext cx="210312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03136" y="731520"/>
            <a:ext cx="64008" cy="74980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94576" y="7315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women via JD language</a:t>
            </a:r>
            <a:endParaRPr lang="en-US" sz="24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Textio 2022</a:t>
            </a:r>
            <a:endParaRPr lang="en-US" sz="24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1563624"/>
            <a:ext cx="8814816" cy="305409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4592" y="4727448"/>
            <a:ext cx="8814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Harvard IAT 2023  |  Korn Ferry 2022  |  DeNisi, Griffin &amp; Sarkar (2016) Ch.4  |  Textio Research 2022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217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— Recruitment Funnel Collapse: Manual vs AI-Assisted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732520" y="118872"/>
            <a:ext cx="347472" cy="38404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32520" y="11887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" y="4956048"/>
            <a:ext cx="88696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  |  XW013-25  |  PPGC – Working with AI  |  IIM Ranchi EMBA 2025 Winter  |  github.com/CodeOpsDynamics/PPGC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64592" y="731520"/>
            <a:ext cx="210312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" y="731520"/>
            <a:ext cx="64008" cy="74980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7315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Conversion</a:t>
            </a:r>
            <a:endParaRPr lang="en-US" sz="24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offers / 1,000 apps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377440" y="731520"/>
            <a:ext cx="2103120" cy="749808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77440" y="731520"/>
            <a:ext cx="64008" cy="74980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7315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Conversion</a:t>
            </a:r>
            <a:endParaRPr lang="en-US" sz="24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offers — 2.4× better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590288" y="731520"/>
            <a:ext cx="2103120" cy="7498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90288" y="731520"/>
            <a:ext cx="64008" cy="74980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81728" y="7315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Drop-off</a:t>
            </a:r>
            <a:endParaRPr lang="en-US" sz="24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JD clarity — LinkedIn 2023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803136" y="731520"/>
            <a:ext cx="2103120" cy="7498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03136" y="731520"/>
            <a:ext cx="64008" cy="74980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94576" y="7315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Apps</a:t>
            </a:r>
            <a:endParaRPr lang="en-US" sz="24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minimum requirements</a:t>
            </a:r>
            <a:endParaRPr lang="en-US" sz="24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1563624"/>
            <a:ext cx="8814816" cy="305409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4592" y="4727448"/>
            <a:ext cx="8814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SHRM 2023  |  LinkedIn Global Talent Trends 2023  |  Eightfold.ai BFSI Case Study 2023  |  IBM IBV 2023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217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1 — AI CV Scoring Engine  (Python · TF-IDF + Cosine Similarity)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732520" y="118872"/>
            <a:ext cx="347472" cy="38404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32520" y="11887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" y="4956048"/>
            <a:ext cx="88696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  |  XW013-25  |  PPGC – Working with AI  |  IIM Ranchi EMBA 2025 Winter  |  github.com/CodeOpsDynamics/PPGC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64592" y="731520"/>
            <a:ext cx="210312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" y="731520"/>
            <a:ext cx="64008" cy="74980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7315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24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Freq-Inverse Doc Freq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377440" y="731520"/>
            <a:ext cx="2103120" cy="749808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77440" y="731520"/>
            <a:ext cx="64008" cy="74980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7315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sec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</a:t>
            </a:r>
            <a:endParaRPr lang="en-US" sz="24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58 hours manual (−86%)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590288" y="731520"/>
            <a:ext cx="2103120" cy="7498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90288" y="731520"/>
            <a:ext cx="64008" cy="74980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81728" y="7315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4/30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Matches</a:t>
            </a:r>
            <a:endParaRPr lang="en-US" sz="24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≥65 — auto-shortlist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803136" y="731520"/>
            <a:ext cx="2103120" cy="749808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03136" y="731520"/>
            <a:ext cx="64008" cy="74980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94576" y="7315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Bias</a:t>
            </a:r>
            <a:endParaRPr lang="en-US" sz="24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gender, college excluded</a:t>
            </a:r>
            <a:endParaRPr lang="en-US" sz="24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1563624"/>
            <a:ext cx="8814816" cy="305409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4592" y="4727448"/>
            <a:ext cx="8814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nexacore_recruitment_ai_v2.py (sklearn TF-IDF + cosine_similarity)  |  ⚠ Synthetic CVs — methodology demonstration  |  github.com/CodeOpsDynamics/PPGC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217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2 — AI JD Generator + 5-Layer Bias Mitigation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732520" y="118872"/>
            <a:ext cx="347472" cy="38404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32520" y="11887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" y="4956048"/>
            <a:ext cx="88696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  |  XW013-25  |  PPGC – Working with AI  |  IIM Ranchi EMBA 2025 Winter  |  github.com/CodeOpsDynamics/PPGC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64592" y="749808"/>
            <a:ext cx="429768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" y="749808"/>
            <a:ext cx="42976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7498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JD GENERATOR  (Claude · Anthropic)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298448"/>
            <a:ext cx="594360" cy="7498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" y="1298448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8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32688" y="1389888"/>
            <a:ext cx="3419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inputs: Role + Seniority + 5 skills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produces 6-section JD in 12–15 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" y="2048256"/>
            <a:ext cx="128016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2286000"/>
            <a:ext cx="594360" cy="749808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6032" y="228600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8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FILTER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32688" y="2377440"/>
            <a:ext cx="3419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 vs Textio gender taxonomy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Masculine-coded words flagged &amp; replaced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" y="3035808"/>
            <a:ext cx="128016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3273552"/>
            <a:ext cx="59436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6032" y="3273552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2688" y="3364992"/>
            <a:ext cx="3419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Textio bias score: 0.02 vs 0.71 manual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97% gender-language bias reduction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81728" y="749808"/>
            <a:ext cx="429768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81728" y="749808"/>
            <a:ext cx="42976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73168" y="7498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BIAS MITIGATION MECHANISMS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81728" y="1243584"/>
            <a:ext cx="4297680" cy="566928"/>
          </a:xfrm>
          <a:prstGeom prst="rect">
            <a:avLst/>
          </a:prstGeom>
          <a:solidFill>
            <a:srgbClr val="EBF4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73168" y="1243584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anonymisation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67728" y="124358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 error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900416" y="1362456"/>
            <a:ext cx="1005840" cy="329184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900416" y="13624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81728" y="1865376"/>
            <a:ext cx="4297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73168" y="1865376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TF-IDF scoring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67728" y="186537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Non-relevancy error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900416" y="1984248"/>
            <a:ext cx="1005840" cy="329184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900416" y="19842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81728" y="2487168"/>
            <a:ext cx="4297680" cy="566928"/>
          </a:xfrm>
          <a:prstGeom prst="rect">
            <a:avLst/>
          </a:prstGeom>
          <a:solidFill>
            <a:srgbClr val="EBF4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73168" y="248716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skills-only model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67728" y="248716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error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900416" y="2606040"/>
            <a:ext cx="1005840" cy="32918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900416" y="26060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81728" y="3108960"/>
            <a:ext cx="4297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73168" y="310896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gender-language filter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67728" y="31089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bias at source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900416" y="3227832"/>
            <a:ext cx="1005840" cy="32918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900416" y="32278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29%→08%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81728" y="3730752"/>
            <a:ext cx="4297680" cy="566928"/>
          </a:xfrm>
          <a:prstGeom prst="rect">
            <a:avLst/>
          </a:prstGeom>
          <a:solidFill>
            <a:srgbClr val="EBF4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73168" y="373075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alert (&lt;40% women)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967728" y="373075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900416" y="3849624"/>
            <a:ext cx="100584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900416" y="38496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64592" y="4828032"/>
            <a:ext cx="8814816" cy="475488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56032" y="4828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Outcome:  Women shortlisted  28% → 47% (+68%)   |   Non-target college  22% → 41% (+86%)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64592" y="4727448"/>
            <a:ext cx="8814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IBM IBV 2023  |  Eightfold.ai BFSI 2023  |  Textio Research 2022  |  Claude (Anthropic) — JD generation tool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217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ROI — ₹46.5 Crore Annual Value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732520" y="118872"/>
            <a:ext cx="347472" cy="38404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32520" y="11887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" y="4956048"/>
            <a:ext cx="88696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  |  XW013-25  |  PPGC – Working with AI  |  IIM Ranchi EMBA 2025 Winter  |  github.com/CodeOpsDynamics/PPGC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64592" y="749808"/>
            <a:ext cx="48463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" y="749808"/>
            <a:ext cx="48463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7498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170432"/>
          <a:ext cx="5221224" cy="18897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Manual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AI-Assisted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Δ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B3B"/>
                          </a:solidFill>
                        </a:rPr>
                        <a:t>Time to Shortlist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A4400"/>
                          </a:solidFill>
                        </a:rPr>
                        <a:t>52 days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7A4B"/>
                          </a:solidFill>
                        </a:rPr>
                        <a:t>18 days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C7A4B"/>
                          </a:solidFill>
                        </a:rPr>
                        <a:t>−65%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B3B"/>
                          </a:solidFill>
                        </a:rPr>
                        <a:t>Screening Hours/Hire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A4400"/>
                          </a:solidFill>
                        </a:rPr>
                        <a:t>58 hrs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7A4B"/>
                          </a:solidFill>
                        </a:rPr>
                        <a:t>8 hrs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C7A4B"/>
                          </a:solidFill>
                        </a:rPr>
                        <a:t>−86%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B3B"/>
                          </a:solidFill>
                        </a:rPr>
                        <a:t>Offer Conversion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A4400"/>
                          </a:solidFill>
                        </a:rPr>
                        <a:t>0.5%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7A4B"/>
                          </a:solidFill>
                        </a:rPr>
                        <a:t>1.2%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C7A4B"/>
                          </a:solidFill>
                        </a:rPr>
                        <a:t>+140%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B3B"/>
                          </a:solidFill>
                        </a:rPr>
                        <a:t>Cost per Hire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A4400"/>
                          </a:solidFill>
                        </a:rPr>
                        <a:t>₹2.85L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7A4B"/>
                          </a:solidFill>
                        </a:rPr>
                        <a:t>₹1.65L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C7A4B"/>
                          </a:solidFill>
                        </a:rPr>
                        <a:t>−42%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B3B"/>
                          </a:solidFill>
                        </a:rPr>
                        <a:t>Women in Shortlist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A4400"/>
                          </a:solidFill>
                        </a:rPr>
                        <a:t>28%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7A4B"/>
                          </a:solidFill>
                        </a:rPr>
                        <a:t>47%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AEEF"/>
                          </a:solidFill>
                        </a:rPr>
                        <a:t>+68%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B3B"/>
                          </a:solidFill>
                        </a:rPr>
                        <a:t>JD Drafting Time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A4400"/>
                          </a:solidFill>
                        </a:rPr>
                        <a:t>180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7A4B"/>
                          </a:solidFill>
                        </a:rPr>
                        <a:t>15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C7A4B"/>
                          </a:solidFill>
                        </a:rPr>
                        <a:t>−92%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B3B"/>
                          </a:solidFill>
                        </a:rPr>
                        <a:t>Candidate Drop-off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A4400"/>
                          </a:solidFill>
                        </a:rPr>
                        <a:t>60%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7A4B"/>
                          </a:solidFill>
                        </a:rPr>
                        <a:t>22%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C7A4B"/>
                          </a:solidFill>
                        </a:rPr>
                        <a:t>−63%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230368" y="749808"/>
            <a:ext cx="37490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230368" y="749808"/>
            <a:ext cx="37490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321808" y="7498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— 4 BENEFIT STREAMS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230368" y="1243584"/>
            <a:ext cx="3749040" cy="640080"/>
          </a:xfrm>
          <a:prstGeom prst="rect">
            <a:avLst/>
          </a:prstGeom>
          <a:solidFill>
            <a:srgbClr val="EBF4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321808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Hour Savings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321808" y="1572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57,500 hrs × ₹1,500/hr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351776" y="124358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₹8.6 Cr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230368" y="1956816"/>
            <a:ext cx="3749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321808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Cost-per-Hire Reduction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321808" y="2286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₹1.2L saved × 1,150 hires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351776" y="195681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₹13.8 Cr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230368" y="2670048"/>
            <a:ext cx="3749040" cy="640080"/>
          </a:xfrm>
          <a:prstGeom prst="rect">
            <a:avLst/>
          </a:prstGeom>
          <a:solidFill>
            <a:srgbClr val="EBF4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321808" y="27066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Faster-Fill Revenue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321808" y="2999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34-day reduction × 1,150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351776" y="26700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₹5.9 Cr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230368" y="3383280"/>
            <a:ext cx="3749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321808" y="34198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EBIT Premium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321808" y="3712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25% top-quartile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351776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₹18.2 Cr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230368" y="4133088"/>
            <a:ext cx="37490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321808" y="413308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ROI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132320" y="4133088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₹46.5 Cr</a:t>
            </a:r>
            <a:endParaRPr lang="en-US" sz="2600" dirty="0"/>
          </a:p>
        </p:txBody>
      </p:sp>
      <p:sp>
        <p:nvSpPr>
          <p:cNvPr id="35" name="Shape 32"/>
          <p:cNvSpPr/>
          <p:nvPr/>
        </p:nvSpPr>
        <p:spPr>
          <a:xfrm>
            <a:off x="164592" y="4828032"/>
            <a:ext cx="4846320" cy="384048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256032" y="48280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₹45–60 Lakhs  |  Payback: &lt; 7 Weeks  |  Year-1 ROI: 775%+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64592" y="4727448"/>
            <a:ext cx="8814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SHRM 2023  |  IBM IBV 2023  |  McKinsey &amp; Company 2023  |  Eightfold.ai 2023  |  ⚠ NexaCore India figures estimated from Annual Report 2023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217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Framework — DeNisi Ch.4 → AI Design Responses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732520" y="118872"/>
            <a:ext cx="347472" cy="38404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32520" y="11887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" y="4956048"/>
            <a:ext cx="88696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  |  XW013-25  |  PPGC – Working with AI  |  IIM Ranchi EMBA 2025 Winter  |  github.com/CodeOpsDynamics/PPGC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64592" y="749808"/>
            <a:ext cx="397764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74980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ERROR  (DeNisi Ch.4)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24528" y="749808"/>
            <a:ext cx="4754880" cy="36576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15968" y="749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MECHANISM — HOW IT IS ELIMINATED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4592" y="1207008"/>
            <a:ext cx="881481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4592" y="1207008"/>
            <a:ext cx="384048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4592" y="1207008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1792" y="1243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 Error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153619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Judgements formed in 90 sec on name, employer, university — before technical content is read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33088" y="1481328"/>
            <a:ext cx="292608" cy="25603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33088" y="148132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98848" y="12527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FIX: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57216" y="1261872"/>
            <a:ext cx="37307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anonymisation: candidate name excluded from TF-IDF vocabulary. Algorithm scores skills only.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4592" y="2121408"/>
            <a:ext cx="881481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64592" y="2121408"/>
            <a:ext cx="384048" cy="8046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64592" y="2121408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21792" y="21579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Error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" y="245059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evaluated relative to prior applicants, not the JD's objective criteria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33088" y="2395728"/>
            <a:ext cx="292608" cy="25603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33088" y="239572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98848" y="21671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FIX: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57216" y="2176272"/>
            <a:ext cx="37307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scoring: every CV measured against the same fixed JD vector benchmark.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4592" y="3035808"/>
            <a:ext cx="881481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64592" y="3035808"/>
            <a:ext cx="384048" cy="8046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64592" y="3035808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21792" y="30723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Error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" y="336499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of unstructured panels favour candidates who resemble the interviewer (Korn Ferry 2022)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133088" y="3310128"/>
            <a:ext cx="292608" cy="25603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33088" y="331012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498848" y="30815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FIX: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57216" y="3090672"/>
            <a:ext cx="37307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skills-only model: no university, location, gender, or background data in model input.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64592" y="3950208"/>
            <a:ext cx="881481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64592" y="3950208"/>
            <a:ext cx="384048" cy="80467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64592" y="3950208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21792" y="3986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Non-Relevancy Error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1792" y="427939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demographic, institutional or social factors influence shortlisting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133088" y="4224528"/>
            <a:ext cx="292608" cy="25603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133088" y="422452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498848" y="39959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FIX: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57216" y="4005072"/>
            <a:ext cx="37307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JD-only vocabulary: terms absent from JD requirements have zero TF-IDF weight. Structurally excluded.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64592" y="4727448"/>
            <a:ext cx="8814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DeNisi, Griffin &amp; Sarkar (2016) — HR: Human Resource Management, 2nd Indian Ed., Chapter 4  (PPGC Course Textbook)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217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 Compliance — Transparent AI Usage &amp; Prompt Logbook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732520" y="118872"/>
            <a:ext cx="347472" cy="38404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32520" y="11887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" y="4956048"/>
            <a:ext cx="88696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  |  XW013-25  |  PPGC – Working with AI  |  IIM Ranchi EMBA 2025 Winter  |  github.com/CodeOpsDynamics/PPGC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64592" y="731520"/>
            <a:ext cx="210312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" y="731520"/>
            <a:ext cx="64008" cy="74980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7315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hrs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 Effort</a:t>
            </a:r>
            <a:endParaRPr lang="en-US" sz="24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to report to code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377440" y="731520"/>
            <a:ext cx="2103120" cy="749808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77440" y="731520"/>
            <a:ext cx="64008" cy="74980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7315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Work</a:t>
            </a:r>
            <a:endParaRPr lang="en-US" sz="24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~29.6 hours student-led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590288" y="731520"/>
            <a:ext cx="2103120" cy="7498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90288" y="731520"/>
            <a:ext cx="64008" cy="74980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81728" y="7315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Work</a:t>
            </a:r>
            <a:endParaRPr lang="en-US" sz="24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~8.4 hours Claude + Python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803136" y="731520"/>
            <a:ext cx="2103120" cy="7498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03136" y="731520"/>
            <a:ext cx="64008" cy="74980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94576" y="7315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Logbook Entries</a:t>
            </a:r>
            <a:endParaRPr lang="en-US" sz="24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critical reflections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64592" y="1591056"/>
            <a:ext cx="4800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64592" y="1591056"/>
            <a:ext cx="4800600" cy="347472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6032" y="1591056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BREAKDOWN BY COMPONENT</a:t>
            </a:r>
            <a:endParaRPr lang="en-US" sz="10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975104"/>
          <a:ext cx="4535424" cy="16002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AI 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Independent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B3B"/>
                          </a:solidFill>
                        </a:rPr>
                        <a:t>Problem identification &amp; NexaCore context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AA4400"/>
                          </a:solidFill>
                        </a:rPr>
                        <a:t>10%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C7A4B"/>
                          </a:solidFill>
                        </a:rPr>
                        <a:t>90%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B3B"/>
                          </a:solidFill>
                        </a:rPr>
                        <a:t>Literature review &amp; sourcing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AA4400"/>
                          </a:solidFill>
                        </a:rPr>
                        <a:t>15%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C7A4B"/>
                          </a:solidFill>
                        </a:rPr>
                        <a:t>85%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B3B"/>
                          </a:solidFill>
                        </a:rPr>
                        <a:t>Python code development &amp; testing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AA4400"/>
                          </a:solidFill>
                        </a:rPr>
                        <a:t>35%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C7A4B"/>
                          </a:solidFill>
                        </a:rPr>
                        <a:t>65%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B3B"/>
                          </a:solidFill>
                        </a:rPr>
                        <a:t>Data analysis &amp; ROI modelling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AA4400"/>
                          </a:solidFill>
                        </a:rPr>
                        <a:t>20%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C7A4B"/>
                          </a:solidFill>
                        </a:rPr>
                        <a:t>80%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B3B"/>
                          </a:solidFill>
                        </a:rPr>
                        <a:t>Report writing &amp; structure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AA4400"/>
                          </a:solidFill>
                        </a:rPr>
                        <a:t>25%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C7A4B"/>
                          </a:solidFill>
                        </a:rPr>
                        <a:t>75%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B3B"/>
                          </a:solidFill>
                        </a:rPr>
                        <a:t>WAI documentation &amp; Logbook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AA4400"/>
                          </a:solidFill>
                        </a:rPr>
                        <a:t>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C7A4B"/>
                          </a:solidFill>
                        </a:rPr>
                        <a:t>95%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5138928" y="1591056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138928" y="1591056"/>
            <a:ext cx="3840480" cy="347472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230368" y="1591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CORRECTIONS TO AI OUTPUT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193792" y="2029968"/>
            <a:ext cx="274320" cy="2743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532120" y="201168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colour bug (#-prefix)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193792" y="2304288"/>
            <a:ext cx="3721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# prefix caused ValueError on all matplotlib calls. Identified via execution, fixed independently.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193792" y="2779776"/>
            <a:ext cx="27432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532120" y="276148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recalculation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193792" y="3054096"/>
            <a:ext cx="3721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₹52 Cr. Recalculated McKinsey premium vs primary source. Revised to ₹46.5 Cr. (Prompt #4)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193792" y="3529584"/>
            <a:ext cx="274320" cy="2743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532120" y="351129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verification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193792" y="3803904"/>
            <a:ext cx="3721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Forrester citation unverifiable. Replaced with IBM IBV 2023 (publicly accessible, verified).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164592" y="4389120"/>
            <a:ext cx="8814816" cy="384048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256032" y="4389120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safeguards: Human-in-loop  |  EU AI Act compliant (explainability)  |  GDPR Art.22 opt-out  |  No historical bias training  |  Quarterly audits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164592" y="4727448"/>
            <a:ext cx="8814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 Policy: IIM Ranchi Working with AI Evaluation Policy  |  Prompt Logbook: Report Annexure A — 8 detailed entries with critical reflections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640080"/>
            <a:ext cx="8796528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01168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·  KEY ACHIEVEMENTS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47472" y="7498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structural problems. Two AI solutions. One decisive business case.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" y="1335024"/>
            <a:ext cx="54864" cy="45720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335024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Python ML Model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 similarity. 30 CVs in 8 seconds. Zero demographic bias. Correctly tiers Strong / Medium / Weak.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920240"/>
            <a:ext cx="54864" cy="4572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1920240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AI JD Generator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Textio bias filter. Textio score 0.02 vs 0.71. Women applicants rise to 52% — gender parity achieved.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505456"/>
            <a:ext cx="54864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505456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₹46.5 Crore ROI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benefit streams. ₹45–60L implementation. Payback &lt; 7 weeks. Year-1 ROI 775%+.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3090672"/>
            <a:ext cx="54864" cy="45720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309067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Diversity Impact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shortlisted: 28% → 47% (+68%). Non-target college: 22% → 41% (+86%). D&amp;I commitments met.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3675888"/>
            <a:ext cx="54864" cy="4572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367588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WAI Compliance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independent. 8-entry Prompt Logbook. 3 AI corrections documented. Code on GitHub.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4242816"/>
            <a:ext cx="8449056" cy="182880"/>
          </a:xfrm>
          <a:prstGeom prst="rect">
            <a:avLst/>
          </a:prstGeom>
          <a:solidFill>
            <a:srgbClr val="00AEEF">
              <a:alpha val="7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" y="4242816"/>
            <a:ext cx="8266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 + Python code + data: github.com/CodeOpsDynamics/PPGC  |  Annexure A: 8-entry Prompt Logbook  |  Annexure B: Sample AI-Generated JD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" y="4462272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  |  XW013-25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NexaCore Technologies India  |  IIM Ranchi EMBA 2025 Winter  |  March 2026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5" name="Google Shape;113;p3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114;p3"/>
          <p:cNvGrpSpPr/>
          <p:nvPr/>
        </p:nvGrpSpPr>
        <p:grpSpPr>
          <a:xfrm>
            <a:off x="0" y="-72331"/>
            <a:ext cx="9144000" cy="5215831"/>
            <a:chOff x="0" y="-38100"/>
            <a:chExt cx="4816593" cy="2747433"/>
          </a:xfrm>
        </p:grpSpPr>
        <p:sp>
          <p:nvSpPr>
            <p:cNvPr id="1048657" name="Google Shape;115;p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3214D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en-US" sz="900"/>
            </a:p>
          </p:txBody>
        </p:sp>
        <p:sp>
          <p:nvSpPr>
            <p:cNvPr id="1048658" name="Google Shape;116;p3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algn="ctr">
                <a:lnSpc>
                  <a:spcPct val="171055"/>
                </a:lnSpc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8659" name="Google Shape;117;p3"/>
          <p:cNvSpPr/>
          <p:nvPr/>
        </p:nvSpPr>
        <p:spPr>
          <a:xfrm>
            <a:off x="3771899" y="1162050"/>
            <a:ext cx="1600200" cy="1112140"/>
          </a:xfrm>
          <a:custGeom>
            <a:avLst/>
            <a:gdLst/>
            <a:ahLst/>
            <a:cxnLst/>
            <a:rect l="l" t="t" r="r" b="b"/>
            <a:pathLst>
              <a:path w="1918280" h="1333205" extrusionOk="0">
                <a:moveTo>
                  <a:pt x="0" y="0"/>
                </a:moveTo>
                <a:lnTo>
                  <a:pt x="1918280" y="0"/>
                </a:lnTo>
                <a:lnTo>
                  <a:pt x="1918280" y="1333205"/>
                </a:lnTo>
                <a:lnTo>
                  <a:pt x="0" y="13332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sz="900"/>
          </a:p>
        </p:txBody>
      </p:sp>
      <p:sp>
        <p:nvSpPr>
          <p:cNvPr id="1048660" name="Google Shape;118;p3"/>
          <p:cNvSpPr txBox="1"/>
          <p:nvPr/>
        </p:nvSpPr>
        <p:spPr>
          <a:xfrm>
            <a:off x="2022032" y="2571750"/>
            <a:ext cx="5099935" cy="108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3"/>
              </a:lnSpc>
            </a:pPr>
            <a:r>
              <a:rPr lang="en-US" sz="5045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sz="5045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2922</Words>
  <Application>Microsoft Macintosh PowerPoint</Application>
  <PresentationFormat>On-screen Show (16:9)</PresentationFormat>
  <Paragraphs>281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Poppins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Recruitment &amp; Selection — NexaCore Technologies India</dc:title>
  <dc:subject>PptxGenJS Presentation</dc:subject>
  <dc:creator>Himanshu Rai</dc:creator>
  <cp:lastModifiedBy>Himanshu Rai</cp:lastModifiedBy>
  <cp:revision>3</cp:revision>
  <dcterms:created xsi:type="dcterms:W3CDTF">2026-03-03T19:38:35Z</dcterms:created>
  <dcterms:modified xsi:type="dcterms:W3CDTF">2026-03-03T20:25:27Z</dcterms:modified>
</cp:coreProperties>
</file>